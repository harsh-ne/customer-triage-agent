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image" Target="../media/image-4-2.png"/><Relationship Id="rId11" Type="http://schemas.openxmlformats.org/officeDocument/2006/relationships/image" Target="../media/image-4-11.png"/><Relationship Id="rId12" Type="http://schemas.openxmlformats.org/officeDocument/2006/relationships/image" Target="../media/image-4-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6596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Support Agentic RAG System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Triage &amp; Resolution Assistant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Progress Update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709160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6" name="Image 0" descr="C:\Users\anura\AppData\Local\Temp\claude\D--CustomerSupportTriage-Microsoft\441d74ae-b3ec-47e3-b1e8-6c39c25ed543\scratchpad\pptx_build\assets\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244" y="483388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" y="5385816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48840" y="4709160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9" name="Image 1" descr="C:\Users\anura\AppData\Local\Temp\claude\D--CustomerSupportTriage-Microsoft\441d74ae-b3ec-47e3-b1e8-6c39c25ed543\scratchpad\pptx_build\assets\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564" y="4833884"/>
            <a:ext cx="317480" cy="317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28800" y="5385816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566160" y="4709160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2" name="Image 2" descr="C:\Users\anura\AppData\Local\Temp\claude\D--CustomerSupportTriage-Microsoft\441d74ae-b3ec-47e3-b1e8-6c39c25ed543\scratchpad\pptx_build\assets\shield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884" y="4833884"/>
            <a:ext cx="317480" cy="317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246120" y="5385816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983480" y="4709160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5" name="Image 3" descr="C:\Users\anura\AppData\Local\Temp\claude\D--CustomerSupportTriage-Microsoft\441d74ae-b3ec-47e3-b1e8-6c39c25ed543\scratchpad\pptx_build\assets\cpu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204" y="4833884"/>
            <a:ext cx="317480" cy="3174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663440" y="5385816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731520" y="62636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Problem Statement -- Intelligent Customer Support Triage &amp; Resolution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623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LLM/Agentic AI assistant that helps support engineers triage and resolve customer tickets end to end -- not a chatbot that replaces them, but a system that removes the repetitive work: reading each ticket, categorizing and prioritizing it, searching documentation and past resolved cases, and drafting a grounded first response.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703320"/>
            <a:ext cx="5623560" cy="1417320"/>
          </a:xfrm>
          <a:prstGeom prst="roundRect">
            <a:avLst>
              <a:gd name="adj" fmla="val 7742"/>
            </a:avLst>
          </a:prstGeom>
          <a:solidFill>
            <a:srgbClr val="E4F1F3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370332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“Reduce repetitive investigation. Keep humans in charge of complex issues.”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8" name="Image 0" descr="C:\Users\anura\AppData\Local\Temp\claude\D--CustomerSupportTriage-Microsoft\441d74ae-b3ec-47e3-b1e8-6c39c25ed543\scratchpad\pptx_build\assets\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4" y="2157984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178040" y="198424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first response and reduced time-to-resolution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92240" y="3081528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1" name="Image 1" descr="C:\Users\anura\AppData\Local\Temp\claude\D--CustomerSupportTriage-Microsoft\441d74ae-b3ec-47e3-b1e8-6c39c25ed543\scratchpad\pptx_build\assets\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31821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3008376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identification of relevant docs &amp; past fixes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92240" y="4105656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4" name="Image 2" descr="C:\Users\anura\AppData\Local\Temp\claude\D--CustomerSupportTriage-Microsoft\441d74ae-b3ec-47e3-b1e8-6c39c25ed543\scratchpad\pptx_build\assets\tr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420624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78040" y="403250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consistent categorization and prioritization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92240" y="5129784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7" name="Image 3" descr="C:\Users\anura\AppData\Local\Temp\claude\D--CustomerSupportTriage-Microsoft\441d74ae-b3ec-47e3-b1e8-6c39c25ed543\scratchpad\pptx_build\assets\userGro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5230368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78040" y="505663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Better, more targeted escalation to engineering teams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evidence-first assistant, built on four design principles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6" name="Image 0" descr="C:\Users\anura\AppData\Local\Temp\claude\D--CustomerSupportTriage-Microsoft\441d74ae-b3ec-47e3-b1e8-6c39c25ed543\scratchpad\pptx_build\assets\shield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198516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56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Evidence-First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9631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grounded in retrieved KB or ticket evidence -- never generated first and justified afterward.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60020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874520"/>
            <a:ext cx="502920" cy="50292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1" name="Image 1" descr="C:\Users\anura\AppData\Local\Temp\claude\D--CustomerSupportTriage-Microsoft\441d74ae-b3ec-47e3-b1e8-6c39c25ed543\scratchpad\pptx_build\assets\st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314" y="198516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05472" y="1856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Two-Tier Knowledge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19672" y="249631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documentation (Tier 1) is searched before historical resolved tickets (Tier 2) -- authoritative answers come first.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6" name="Image 2" descr="C:\Users\anura\AppData\Local\Temp\claude\D--CustomerSupportTriage-Microsoft\441d74ae-b3ec-47e3-b1e8-6c39c25ed543\scratchpad\pptx_build\assets\sli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" y="427116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142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Retrieval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78231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(BM25) + semantic (vector) search combined, so exact error codes and intent-level meaning are both captured.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45352" y="388620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4160520"/>
            <a:ext cx="502920" cy="50292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1" name="Image 3" descr="C:\Users\anura\AppData\Local\Temp\claude\D--CustomerSupportTriage-Microsoft\441d74ae-b3ec-47e3-b1e8-6c39c25ed543\scratchpad\pptx_build\assets\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314" y="427116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05472" y="4142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&amp; Escalation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519672" y="478231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Low-confidence, high-risk, or unsupported cases are flagged for a human engineer instead of guessed at.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→ assess confidence → reason → respond -- never generate first and search for justification after.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22376" y="2788920"/>
            <a:ext cx="658368" cy="65836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5" name="Image 0" descr="C:\Users\anura\AppData\Local\Temp\claude\D--CustomerSupportTriage-Microsoft\441d74ae-b3ec-47e3-b1e8-6c39c25ed543\scratchpad\pptx_build\assets\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217" y="2933761"/>
            <a:ext cx="368686" cy="3686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35844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pic>
        <p:nvPicPr>
          <p:cNvPr id="7" name="Image 1" descr="C:\Users\anura\AppData\Local\Temp\claude\D--CustomerSupportTriage-Microsoft\441d74ae-b3ec-47e3-b1e8-6c39c25ed543\scratchpad\pptx_build\assets\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888" y="2999232"/>
            <a:ext cx="237744" cy="2377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98776" y="2788920"/>
            <a:ext cx="658368" cy="65836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9" name="Image 2" descr="C:\Users\anura\AppData\Local\Temp\claude\D--CustomerSupportTriage-Microsoft\441d74ae-b3ec-47e3-b1e8-6c39c25ed543\scratchpad\pptx_build\assets\doc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617" y="2933761"/>
            <a:ext cx="368686" cy="36868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950720" y="35844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Extract</a:t>
            </a:r>
            <a:endParaRPr lang="en-US" sz="1100" dirty="0"/>
          </a:p>
        </p:txBody>
      </p:sp>
      <p:pic>
        <p:nvPicPr>
          <p:cNvPr id="11" name="Image 3" descr="C:\Users\anura\AppData\Local\Temp\claude\D--CustomerSupportTriage-Microsoft\441d74ae-b3ec-47e3-b1e8-6c39c25ed543\scratchpad\pptx_build\assets\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2999232"/>
            <a:ext cx="237744" cy="2377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075176" y="2788920"/>
            <a:ext cx="658368" cy="65836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3" name="Image 4" descr="C:\Users\anura\AppData\Local\Temp\claude\D--CustomerSupportTriage-Microsoft\441d74ae-b3ec-47e3-b1e8-6c39c25ed543\scratchpad\pptx_build\assets\t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0017" y="2933761"/>
            <a:ext cx="368686" cy="36868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627120" y="35844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100" dirty="0"/>
          </a:p>
        </p:txBody>
      </p:sp>
      <p:pic>
        <p:nvPicPr>
          <p:cNvPr id="15" name="Image 5" descr="C:\Users\anura\AppData\Local\Temp\claude\D--CustomerSupportTriage-Microsoft\441d74ae-b3ec-47e3-b1e8-6c39c25ed543\scratchpad\pptx_build\assets\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3688" y="2999232"/>
            <a:ext cx="237744" cy="237744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5751576" y="2788920"/>
            <a:ext cx="658368" cy="65836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7" name="Image 6" descr="C:\Users\anura\AppData\Local\Temp\claude\D--CustomerSupportTriage-Microsoft\441d74ae-b3ec-47e3-b1e8-6c39c25ed543\scratchpad\pptx_build\assets\sta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6417" y="2933761"/>
            <a:ext cx="368686" cy="368686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5303520" y="35844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pic>
        <p:nvPicPr>
          <p:cNvPr id="19" name="Image 7" descr="C:\Users\anura\AppData\Local\Temp\claude\D--CustomerSupportTriage-Microsoft\441d74ae-b3ec-47e3-b1e8-6c39c25ed543\scratchpad\pptx_build\assets\arrowR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0088" y="2999232"/>
            <a:ext cx="237744" cy="237744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7427976" y="2788920"/>
            <a:ext cx="658368" cy="65836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1" name="Image 8" descr="C:\Users\anura\AppData\Local\Temp\claude\D--CustomerSupportTriage-Microsoft\441d74ae-b3ec-47e3-b1e8-6c39c25ed543\scratchpad\pptx_build\assets\checkBad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2817" y="2933761"/>
            <a:ext cx="368686" cy="368686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6979920" y="35844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pic>
        <p:nvPicPr>
          <p:cNvPr id="23" name="Image 9" descr="C:\Users\anura\AppData\Local\Temp\claude\D--CustomerSupportTriage-Microsoft\441d74ae-b3ec-47e3-b1e8-6c39c25ed543\scratchpad\pptx_build\assets\arrowRigh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6488" y="2999232"/>
            <a:ext cx="237744" cy="237744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9104376" y="2788920"/>
            <a:ext cx="658368" cy="65836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5" name="Image 10" descr="C:\Users\anura\AppData\Local\Temp\claude\D--CustomerSupportTriage-Microsoft\441d74ae-b3ec-47e3-b1e8-6c39c25ed543\scratchpad\pptx_build\assets\wrench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49217" y="2933761"/>
            <a:ext cx="368686" cy="368686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8656320" y="35844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Recommend</a:t>
            </a:r>
            <a:endParaRPr lang="en-US" sz="1100" dirty="0"/>
          </a:p>
        </p:txBody>
      </p:sp>
      <p:pic>
        <p:nvPicPr>
          <p:cNvPr id="27" name="Image 11" descr="C:\Users\anura\AppData\Local\Temp\claude\D--CustomerSupportTriage-Microsoft\441d74ae-b3ec-47e3-b1e8-6c39c25ed543\scratchpad\pptx_build\assets\arrowRigh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52888" y="2999232"/>
            <a:ext cx="237744" cy="237744"/>
          </a:xfrm>
          <a:prstGeom prst="rect">
            <a:avLst/>
          </a:prstGeom>
        </p:spPr>
      </p:pic>
      <p:sp>
        <p:nvSpPr>
          <p:cNvPr id="28" name="Shape 14"/>
          <p:cNvSpPr/>
          <p:nvPr/>
        </p:nvSpPr>
        <p:spPr>
          <a:xfrm>
            <a:off x="10780776" y="2788920"/>
            <a:ext cx="658368" cy="65836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9" name="Image 12" descr="C:\Users\anura\AppData\Local\Temp\claude\D--CustomerSupportTriage-Microsoft\441d74ae-b3ec-47e3-b1e8-6c39c25ed543\scratchpad\pptx_build\assets\paperPlan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25617" y="2933761"/>
            <a:ext cx="368686" cy="368686"/>
          </a:xfrm>
          <a:prstGeom prst="rect">
            <a:avLst/>
          </a:prstGeom>
        </p:spPr>
      </p:pic>
      <p:sp>
        <p:nvSpPr>
          <p:cNvPr id="30" name="Text 15"/>
          <p:cNvSpPr txBox="1"/>
          <p:nvPr/>
        </p:nvSpPr>
        <p:spPr>
          <a:xfrm>
            <a:off x="10332720" y="35844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</p:txBody>
      </p:sp>
      <p:sp>
        <p:nvSpPr>
          <p:cNvPr id="31" name="Shape 16"/>
          <p:cNvSpPr/>
          <p:nvPr/>
        </p:nvSpPr>
        <p:spPr>
          <a:xfrm>
            <a:off x="1280160" y="4709160"/>
            <a:ext cx="9601200" cy="868680"/>
          </a:xfrm>
          <a:prstGeom prst="roundRect">
            <a:avLst>
              <a:gd name="adj" fmla="val 12632"/>
            </a:avLst>
          </a:prstGeom>
          <a:solidFill>
            <a:srgbClr val="E4F1F3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32" name="Text 17"/>
          <p:cNvSpPr txBox="1"/>
          <p:nvPr/>
        </p:nvSpPr>
        <p:spPr>
          <a:xfrm>
            <a:off x="1600200" y="470916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cache hit is nearly free; a routine KB match stops before historical-ticket search -- only difficult cases reach deeper fallback and human escalation.</a:t>
            </a:r>
            <a:endParaRPr lang="en-US" sz="1300" dirty="0"/>
          </a:p>
        </p:txBody>
      </p:sp>
      <p:sp>
        <p:nvSpPr>
          <p:cNvPr id="33" name="Text 18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Knowledge Base We're Using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MicrosoftDocs/SupportArticles-docs -- Microsoft's own public troubleshooting corpus (CC-BY-4.0)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Source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6" name="Image 0" descr="C:\Users\anura\AppData\Local\Temp\claude\D--CustomerSupportTriage-Microsoft\441d74ae-b3ec-47e3-b1e8-6c39c25ed543\scratchpad\pptx_build\assets\check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2494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20574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shaped as Symptoms → Cause → Resolution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9" name="Image 1" descr="C:\Users\anura\AppData\Local\Temp\claude\D--CustomerSupportTriage-Microsoft\441d74ae-b3ec-47e3-b1e8-6c39c25ed543\scratchpad\pptx_build\assets\shield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1638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971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Microsoft-authored -- not synthetic filler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2" name="Image 2" descr="C:\Users\anura\AppData\Local\Temp\claude\D--CustomerSupportTriage-Microsoft\441d74ae-b3ec-47e3-b1e8-6c39c25ed543\scratchpad\pptx_build\assets\doc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07822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3886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Openly licensed (CC-BY-4.0), redistributable with attribution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5" name="Image 3" descr="C:\Users\anura\AppData\Local\Temp\claude\D--CustomerSupportTriage-Microsoft\441d74ae-b3ec-47e3-b1e8-6c39c25ed543\scratchpad\pptx_build\assets\t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992624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4800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built-in metadata: product, topic, error codes, KB numbers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6492240" y="1554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Categories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6492240" y="214884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6492240" y="22585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7,930</a:t>
            </a:r>
            <a:endParaRPr lang="en-US" sz="2600" dirty="0"/>
          </a:p>
        </p:txBody>
      </p:sp>
      <p:sp>
        <p:nvSpPr>
          <p:cNvPr id="20" name="Text 14"/>
          <p:cNvSpPr txBox="1"/>
          <p:nvPr/>
        </p:nvSpPr>
        <p:spPr>
          <a:xfrm>
            <a:off x="6583680" y="2770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kept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 8,055 scanned)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9144000" y="214884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9144000" y="22585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600" dirty="0"/>
          </a:p>
        </p:txBody>
      </p:sp>
      <p:sp>
        <p:nvSpPr>
          <p:cNvPr id="23" name="Text 17"/>
          <p:cNvSpPr txBox="1"/>
          <p:nvPr/>
        </p:nvSpPr>
        <p:spPr>
          <a:xfrm>
            <a:off x="9235440" y="2770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areas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(Azure, SQL, Exchange...)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492240" y="347472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6492240" y="3584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</a:t>
            </a:r>
            <a:endParaRPr lang="en-US" sz="2600" dirty="0"/>
          </a:p>
        </p:txBody>
      </p:sp>
      <p:sp>
        <p:nvSpPr>
          <p:cNvPr id="26" name="Text 20"/>
          <p:cNvSpPr txBox="1"/>
          <p:nvPr/>
        </p:nvSpPr>
        <p:spPr>
          <a:xfrm>
            <a:off x="6583680" y="40965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(derived bottom-up, not hardcoded)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9144000" y="347472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9144000" y="3584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55,771</a:t>
            </a:r>
            <a:endParaRPr lang="en-US" sz="2600" dirty="0"/>
          </a:p>
        </p:txBody>
      </p:sp>
      <p:sp>
        <p:nvSpPr>
          <p:cNvPr id="29" name="Text 23"/>
          <p:cNvSpPr txBox="1"/>
          <p:nvPr/>
        </p:nvSpPr>
        <p:spPr>
          <a:xfrm>
            <a:off x="9235440" y="40965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indexed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548640" y="489204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E4F1F3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68680" y="5093208"/>
            <a:ext cx="512064" cy="512064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32" name="Image 4" descr="C:\Users\anura\AppData\Local\Temp\claude\D--CustomerSupportTriage-Microsoft\441d74ae-b3ec-47e3-b1e8-6c39c25ed543\scratchpad\pptx_build\assets\puzz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334" y="5205862"/>
            <a:ext cx="286756" cy="28675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554480" y="4892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chunked &amp; stored: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→ Section → Subsection → Chunk hierarchy, with the full heading path kept on every chunk -- indexed in parallel by a BM25 keyword index and a Chroma vector store (bge-base-en-v1.5 embeddings), side by side.</a:t>
            </a:r>
            <a:endParaRPr lang="en-US" sz="1250" dirty="0"/>
          </a:p>
        </p:txBody>
      </p:sp>
      <p:sp>
        <p:nvSpPr>
          <p:cNvPr id="34" name="Text 27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Theory: Chunking, Storage &amp; Retrieval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stage is designed the way it is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8728" cy="448056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1984248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6" name="Image 0" descr="C:\Users\anura\AppData\Local\Temp\claude\D--CustomerSupportTriage-Microsoft\441d74ae-b3ec-47e3-b1e8-6c39c25ed543\scratchpad\pptx_build\assets\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264" y="2108972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69748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Chunking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291840"/>
            <a:ext cx="299008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→ Section → Subsection → Chunk -- not flat, fixed-size splits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small for precise matching, return whole: expand back to the full Symptom + Cause + Resolution, never a lone fragment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heading path + metadata attached to every chunk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538728" cy="448056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11012" y="1984248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1" name="Image 1" descr="C:\Users\anura\AppData\Local\Temp\claude\D--CustomerSupportTriage-Microsoft\441d74ae-b3ec-47e3-b1e8-6c39c25ed543\scratchpad\pptx_build\assets\st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736" y="2108972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07992" y="269748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Storage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291840"/>
            <a:ext cx="299008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(sparse): protects exact error codes, product names, version numbers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(dense, bge-base): captures meaning even when wording differs entirely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independent, swappable indexes -- neither is coupled to the other's format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691640"/>
            <a:ext cx="3538728" cy="448056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87484" y="1984248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6" name="Image 2" descr="C:\Users\anura\AppData\Local\Temp\claude\D--CustomerSupportTriage-Microsoft\441d74ae-b3ec-47e3-b1e8-6c39c25ed543\scratchpad\pptx_build\assets\sli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2208" y="2108972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84464" y="269748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→ Boost → Rerank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94192" y="3291840"/>
            <a:ext cx="299008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Fusion: combine BM25 + vector by rank position, not raw score -- the two scales aren't comparable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metadata boost: nudges toward consensus, never hard-filters -- a strong outlier can still win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reranks the shortlist by reading query + passage together, for fine discrimination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We've Done -- Data Pipeline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scripts, run end to end on Microsoft's own public support-article corpus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420624" cy="420624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6" name="Image 0" descr="C:\Users\anura\AppData\Local\Temp\claude\D--CustomerSupportTriage-Microsoft\441d74ae-b3ec-47e3-b1e8-6c39c25ed543\scratchpad\pptx_build\assets\char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345" y="1893905"/>
            <a:ext cx="235549" cy="2355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33172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Profile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65176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8,055 articles scanned &amp; profiled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74136" y="160020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75304" y="1801368"/>
            <a:ext cx="420624" cy="420624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1" name="Image 1" descr="C:\Users\anura\AppData\Local\Temp\claude\D--CustomerSupportTriage-Microsoft\441d74ae-b3ec-47e3-b1e8-6c39c25ed543\scratchpad\pptx_build\assets\fun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841" y="1893905"/>
            <a:ext cx="235549" cy="2355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75304" y="233172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Filter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575304" y="265176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7,930 articles kept as troubleshooting-quality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99632" y="160020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1801368"/>
            <a:ext cx="420624" cy="420624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6" name="Image 2" descr="C:\Users\anura\AppData\Local\Temp\claude\D--CustomerSupportTriage-Microsoft\441d74ae-b3ec-47e3-b1e8-6c39c25ed543\scratchpad\pptx_build\assets\sparkl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337" y="1893905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233172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Clean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265176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resolved, callouts normalized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25128" y="160020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26296" y="1801368"/>
            <a:ext cx="420624" cy="420624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1" name="Image 3" descr="C:\Users\anura\AppData\Local\Temp\claude\D--CustomerSupportTriage-Microsoft\441d74ae-b3ec-47e3-b1e8-6c39c25ed543\scratchpad\pptx_build\assets\puzz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8833" y="1893905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26296" y="233172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Chunk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9226296" y="265176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55,771 hierarchical chunks (Article→Section→Sub)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3675888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3877056"/>
            <a:ext cx="420624" cy="420624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6" name="Image 4" descr="C:\Users\anura\AppData\Local\Temp\claude\D--CustomerSupportTriage-Microsoft\441d74ae-b3ec-47e3-b1e8-6c39c25ed543\scratchpad\pptx_build\assets\t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45" y="3969593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49808" y="440740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Metadata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749808" y="4727448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Product/category taxonomy + error codes extracted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74136" y="3675888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75304" y="3877056"/>
            <a:ext cx="420624" cy="420624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31" name="Image 5" descr="C:\Users\anura\AppData\Local\Temp\claude\D--CustomerSupportTriage-Microsoft\441d74ae-b3ec-47e3-b1e8-6c39c25ed543\scratchpad\pptx_build\assets\sta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7841" y="3969593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75304" y="440740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Store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3575304" y="4727448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Chroma vector store (bge-base embeddings)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199632" y="3675888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00800" y="3877056"/>
            <a:ext cx="420624" cy="420624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36" name="Image 6" descr="C:\Users\anura\AppData\Local\Temp\claude\D--CustomerSupportTriage-Microsoft\441d74ae-b3ec-47e3-b1e8-6c39c25ed543\scratchpad\pptx_build\assets\sear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3337" y="3969593"/>
            <a:ext cx="235549" cy="235549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00800" y="440740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Retrieve</a:t>
            </a:r>
            <a:endParaRPr lang="en-US" sz="1350" dirty="0"/>
          </a:p>
        </p:txBody>
      </p:sp>
      <p:sp>
        <p:nvSpPr>
          <p:cNvPr id="38" name="Text 29"/>
          <p:cNvSpPr txBox="1"/>
          <p:nvPr/>
        </p:nvSpPr>
        <p:spPr>
          <a:xfrm>
            <a:off x="6400800" y="4727448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fusion + metadata boost + reranking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9025128" y="3675888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226296" y="3877056"/>
            <a:ext cx="420624" cy="420624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41" name="Image 7" descr="C:\Users\anura\AppData\Local\Temp\claude\D--CustomerSupportTriage-Microsoft\441d74ae-b3ec-47e3-b1e8-6c39c25ed543\scratchpad\pptx_build\assets\beak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8833" y="3969593"/>
            <a:ext cx="235549" cy="235549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226296" y="440740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Evaluate</a:t>
            </a:r>
            <a:endParaRPr lang="en-US" sz="1350" dirty="0"/>
          </a:p>
        </p:txBody>
      </p:sp>
      <p:sp>
        <p:nvSpPr>
          <p:cNvPr id="43" name="Text 33"/>
          <p:cNvSpPr txBox="1"/>
          <p:nvPr/>
        </p:nvSpPr>
        <p:spPr>
          <a:xfrm>
            <a:off x="9226296" y="4727448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52-query labeled Recall@5 / Recall@10 benchmark</a:t>
            </a:r>
            <a:endParaRPr lang="en-US" sz="1000" dirty="0"/>
          </a:p>
        </p:txBody>
      </p:sp>
      <p:sp>
        <p:nvSpPr>
          <p:cNvPr id="44" name="Text 34"/>
          <p:cNvSpPr txBox="1"/>
          <p:nvPr/>
        </p:nvSpPr>
        <p:spPr>
          <a:xfrm>
            <a:off x="548640" y="58064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MicrosoftDocs/SupportArticles-docs (GitHub, CC-BY-4.0) -- chosen after profiling showed the originally-suggested Kaggle dataset was synthetic and unusable as evidence.</a:t>
            </a:r>
            <a:endParaRPr lang="en-US" sz="1050" dirty="0"/>
          </a:p>
        </p:txBody>
      </p:sp>
      <p:sp>
        <p:nvSpPr>
          <p:cNvPr id="45" name="Text 35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Stand -- By the Numbers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55,771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indexed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319272" y="14173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7,930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3319272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KB articles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89904" y="14173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6089904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queries, 7 topic clusters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60536" y="14173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~0.93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8860536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Recall@10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3949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227832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3" name="Image 0" descr="C:\Users\anura\AppData\Local\Temp\claude\D--CustomerSupportTriage-Microsoft\441d74ae-b3ec-47e3-b1e8-6c39c25ed543\scratchpad\pptx_build\assets\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3328416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17320" y="3172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good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68503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Rare, distinctive topics retrieve near-perfectly — Recall@10 = 1.00 on 26 baseline queries.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45352" y="2971800"/>
            <a:ext cx="53949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19672" y="3227832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8" name="Image 1" descr="C:\Users\anura\AppData\Local\Temp\claude\D--CustomerSupportTriage-Microsoft\441d74ae-b3ec-47e3-b1e8-6c39c25ed543\scratchpad\pptx_build\assets\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3328416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114032" y="3172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part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6519672" y="368503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clusters (e.g. 4 similar “Modern Authentication” articles) exposed real gaps — some failed BOTH keyword and semantic search.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80060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E4F1F3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68680" y="5001768"/>
            <a:ext cx="512064" cy="512064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3" name="Image 2" descr="C:\Users\anura\AppData\Local\Temp\claude\D--CustomerSupportTriage-Microsoft\441d74ae-b3ec-47e3-b1e8-6c39c25ed543\scratchpad\pptx_build\assets\sli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334" y="5114422"/>
            <a:ext cx="286756" cy="28675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554480" y="480060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close this gap: RRF fusion of BM25 + vector, soft metadata rank-boosting, and cross-encoder reranking on the shortlist — validation run pending.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the roadmap -- retrieval first, then reasoning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12064" cy="512064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C:\Users\anura\AppData\Local\Temp\claude\D--CustomerSupportTriage-Microsoft\441d74ae-b3ec-47e3-b1e8-6c39c25ed543\scratchpad\pptx_build\assets\checkCircle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454" y="1804294"/>
            <a:ext cx="286756" cy="2867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36776"/>
            <a:ext cx="4023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Hybrid Retrieval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636776"/>
            <a:ext cx="6035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fusion + reranking actually recovers the crowded-cluster failures found in evaluation.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587752"/>
            <a:ext cx="512064" cy="512064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9" name="Image 1" descr="C:\Users\anura\AppData\Local\Temp\claude\D--CustomerSupportTriage-Microsoft\441d74ae-b3ec-47e3-b1e8-6c39c25ed543\scratchpad\pptx_build\assets\docSearch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54" y="2700406"/>
            <a:ext cx="286756" cy="2867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532888"/>
            <a:ext cx="4023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&amp; Normalization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577840" y="2532888"/>
            <a:ext cx="6035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product / symptom / severity from raw queries into a canonical problem signature.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85800" y="3483864"/>
            <a:ext cx="512064" cy="512064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3" name="Image 2" descr="C:\Users\anura\AppData\Local\Temp\claude\D--CustomerSupportTriage-Microsoft\441d74ae-b3ec-47e3-b1e8-6c39c25ed543\scratchpad\pptx_build\assets\bolt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54" y="3596518"/>
            <a:ext cx="286756" cy="2867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429000"/>
            <a:ext cx="4023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Caching Layer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5577840" y="3429000"/>
            <a:ext cx="6035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+ semantic cache on problem signatures -- trusted repeats bypass retrieval entirely.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85800" y="4379976"/>
            <a:ext cx="512064" cy="512064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7" name="Image 3" descr="C:\Users\anura\AppData\Local\Temp\claude\D--CustomerSupportTriage-Microsoft\441d74ae-b3ec-47e3-b1e8-6c39c25ed543\scratchpad\pptx_build\assets\cpuChip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54" y="4492630"/>
            <a:ext cx="286756" cy="2867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4325112"/>
            <a:ext cx="4023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Generation &amp; Agents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577840" y="4325112"/>
            <a:ext cx="6035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reasons over retrieved evidence; LangGraph orchestration begins here, not before.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85800" y="5276088"/>
            <a:ext cx="512064" cy="512064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1" name="Image 4" descr="C:\Users\anura\AppData\Local\Temp\claude\D--CustomerSupportTriage-Microsoft\441d74ae-b3ec-47e3-b1e8-6c39c25ed543\scratchpad\pptx_build\assets\archiveBox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454" y="5388742"/>
            <a:ext cx="286756" cy="2867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17320" y="5221224"/>
            <a:ext cx="4023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2 -- Historical Tickets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5577840" y="5221224"/>
            <a:ext cx="6035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once real resolved-ticket data exists, via a summarization agent (deferred by design).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Support Agentic RAG System -- Project Overview</dc:title>
  <dc:subject>PptxGenJS Presentation</dc:subject>
  <dc:creator>Customer Support Agentic RAG</dc:creator>
  <cp:lastModifiedBy>Customer Support Agentic RAG</cp:lastModifiedBy>
  <cp:revision>1</cp:revision>
  <dcterms:created xsi:type="dcterms:W3CDTF">2026-08-29T15:50:20Z</dcterms:created>
  <dcterms:modified xsi:type="dcterms:W3CDTF">2026-08-29T15:50:20Z</dcterms:modified>
</cp:coreProperties>
</file>